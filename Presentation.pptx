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Figtree"/>
      <p:regular r:id="rId15"/>
      <p:bold r:id="rId16"/>
      <p:italic r:id="rId17"/>
      <p:boldItalic r:id="rId18"/>
    </p:embeddedFont>
    <p:embeddedFont>
      <p:font typeface="Jost Light"/>
      <p:regular r:id="rId19"/>
      <p:bold r:id="rId20"/>
      <p:italic r:id="rId21"/>
      <p:boldItalic r:id="rId22"/>
    </p:embeddedFont>
    <p:embeddedFont>
      <p:font typeface="Figtree Light"/>
      <p:regular r:id="rId23"/>
      <p:bold r:id="rId24"/>
      <p:italic r:id="rId25"/>
      <p:boldItalic r:id="rId26"/>
    </p:embeddedFont>
    <p:embeddedFont>
      <p:font typeface="Jo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tLight-bold.fntdata"/><Relationship Id="rId22" Type="http://schemas.openxmlformats.org/officeDocument/2006/relationships/font" Target="fonts/JostLight-boldItalic.fntdata"/><Relationship Id="rId21" Type="http://schemas.openxmlformats.org/officeDocument/2006/relationships/font" Target="fonts/JostLight-italic.fntdata"/><Relationship Id="rId24" Type="http://schemas.openxmlformats.org/officeDocument/2006/relationships/font" Target="fonts/FigtreeLight-bold.fntdata"/><Relationship Id="rId23" Type="http://schemas.openxmlformats.org/officeDocument/2006/relationships/font" Target="fonts/Figtree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Light-boldItalic.fntdata"/><Relationship Id="rId25" Type="http://schemas.openxmlformats.org/officeDocument/2006/relationships/font" Target="fonts/FigtreeLight-italic.fntdata"/><Relationship Id="rId28" Type="http://schemas.openxmlformats.org/officeDocument/2006/relationships/font" Target="fonts/Jost-bold.fntdata"/><Relationship Id="rId27" Type="http://schemas.openxmlformats.org/officeDocument/2006/relationships/font" Target="fonts/Jos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o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Jo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Figtree-regular.fntdata"/><Relationship Id="rId14" Type="http://schemas.openxmlformats.org/officeDocument/2006/relationships/slide" Target="slides/slide9.xml"/><Relationship Id="rId17" Type="http://schemas.openxmlformats.org/officeDocument/2006/relationships/font" Target="fonts/Figtree-italic.fntdata"/><Relationship Id="rId16" Type="http://schemas.openxmlformats.org/officeDocument/2006/relationships/font" Target="fonts/Figtree-bold.fntdata"/><Relationship Id="rId19" Type="http://schemas.openxmlformats.org/officeDocument/2006/relationships/font" Target="fonts/JostLight-regular.fntdata"/><Relationship Id="rId18" Type="http://schemas.openxmlformats.org/officeDocument/2006/relationships/font" Target="fonts/Figtree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f2ec1afb1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f2ec1afb1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f2ec1afb1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af2ec1afb1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af2ec1afb1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af2ec1afb1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af2ec1afb1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af2ec1afb1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f2ec1afb1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af2ec1afb1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f2ec1afb1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af2ec1afb1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af2ec1afb1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af2ec1afb1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f2ec1afb1_0_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af2ec1afb1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af2ec1afb1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af2ec1afb1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6" l="0" r="0" t="14413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CT SCANNER </a:t>
            </a:r>
            <a:endParaRPr/>
          </a:p>
        </p:txBody>
      </p:sp>
      <p:sp>
        <p:nvSpPr>
          <p:cNvPr id="439" name="Google Shape;439;p48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space for legal copy.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whether the information is confidential and how it's intended to be used.</a:t>
            </a:r>
            <a:endParaRPr/>
          </a:p>
        </p:txBody>
      </p:sp>
      <p:sp>
        <p:nvSpPr>
          <p:cNvPr id="440" name="Google Shape;440;p48"/>
          <p:cNvSpPr txBox="1"/>
          <p:nvPr>
            <p:ph idx="1" type="subTitle"/>
          </p:nvPr>
        </p:nvSpPr>
        <p:spPr>
          <a:xfrm>
            <a:off x="228225" y="1298200"/>
            <a:ext cx="271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Nehaa Balaji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446" name="Google Shape;446;p49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447" name="Google Shape;447;p49"/>
          <p:cNvSpPr txBox="1"/>
          <p:nvPr>
            <p:ph idx="2" type="title"/>
          </p:nvPr>
        </p:nvSpPr>
        <p:spPr>
          <a:xfrm>
            <a:off x="3154650" y="3487144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48" name="Google Shape;448;p49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</a:t>
            </a:r>
            <a:endParaRPr/>
          </a:p>
        </p:txBody>
      </p:sp>
      <p:sp>
        <p:nvSpPr>
          <p:cNvPr id="449" name="Google Shape;449;p49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PHANTOM GENERATION</a:t>
            </a:r>
            <a:endParaRPr/>
          </a:p>
        </p:txBody>
      </p:sp>
      <p:sp>
        <p:nvSpPr>
          <p:cNvPr id="450" name="Google Shape;450;p49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CT SCANNER SIMULATION</a:t>
            </a:r>
            <a:endParaRPr/>
          </a:p>
        </p:txBody>
      </p:sp>
      <p:sp>
        <p:nvSpPr>
          <p:cNvPr id="451" name="Google Shape;451;p49"/>
          <p:cNvSpPr txBox="1"/>
          <p:nvPr>
            <p:ph idx="7" type="title"/>
          </p:nvPr>
        </p:nvSpPr>
        <p:spPr>
          <a:xfrm>
            <a:off x="3809850" y="25994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IMAGE RECONSTRUCTION AND ANALYSIS</a:t>
            </a:r>
            <a:endParaRPr/>
          </a:p>
        </p:txBody>
      </p:sp>
      <p:sp>
        <p:nvSpPr>
          <p:cNvPr id="452" name="Google Shape;452;p49"/>
          <p:cNvSpPr txBox="1"/>
          <p:nvPr>
            <p:ph idx="8" type="title"/>
          </p:nvPr>
        </p:nvSpPr>
        <p:spPr>
          <a:xfrm>
            <a:off x="3809850" y="3043269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RESULTS AND PARAMETER EFFECTS</a:t>
            </a:r>
            <a:endParaRPr/>
          </a:p>
        </p:txBody>
      </p:sp>
      <p:sp>
        <p:nvSpPr>
          <p:cNvPr id="453" name="Google Shape;453;p49"/>
          <p:cNvSpPr txBox="1"/>
          <p:nvPr>
            <p:ph idx="9" type="title"/>
          </p:nvPr>
        </p:nvSpPr>
        <p:spPr>
          <a:xfrm>
            <a:off x="3809850" y="3487144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GUI AND CONCLUSION</a:t>
            </a:r>
            <a:endParaRPr/>
          </a:p>
        </p:txBody>
      </p:sp>
      <p:sp>
        <p:nvSpPr>
          <p:cNvPr id="454" name="Google Shape;454;p49"/>
          <p:cNvSpPr txBox="1"/>
          <p:nvPr>
            <p:ph idx="13" type="title"/>
          </p:nvPr>
        </p:nvSpPr>
        <p:spPr>
          <a:xfrm>
            <a:off x="3154650" y="30436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55" name="Google Shape;455;p49"/>
          <p:cNvSpPr txBox="1"/>
          <p:nvPr>
            <p:ph idx="14" type="title"/>
          </p:nvPr>
        </p:nvSpPr>
        <p:spPr>
          <a:xfrm>
            <a:off x="3154650" y="2600081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56" name="Google Shape;456;p49"/>
          <p:cNvSpPr txBox="1"/>
          <p:nvPr>
            <p:ph idx="15" type="title"/>
          </p:nvPr>
        </p:nvSpPr>
        <p:spPr>
          <a:xfrm>
            <a:off x="3154650" y="21565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57" name="Google Shape;457;p49"/>
          <p:cNvSpPr txBox="1"/>
          <p:nvPr>
            <p:ph idx="16" type="title"/>
          </p:nvPr>
        </p:nvSpPr>
        <p:spPr>
          <a:xfrm>
            <a:off x="3154650" y="1713019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8" name="Google Shape;458;p49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464" name="Google Shape;464;p50"/>
          <p:cNvSpPr txBox="1"/>
          <p:nvPr>
            <p:ph idx="1" type="subTitle"/>
          </p:nvPr>
        </p:nvSpPr>
        <p:spPr>
          <a:xfrm>
            <a:off x="228600" y="22859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1 — Project Overview</a:t>
            </a:r>
            <a:endParaRPr/>
          </a:p>
        </p:txBody>
      </p:sp>
      <p:sp>
        <p:nvSpPr>
          <p:cNvPr id="465" name="Google Shape;465;p50"/>
          <p:cNvSpPr txBox="1"/>
          <p:nvPr>
            <p:ph idx="3" type="title"/>
          </p:nvPr>
        </p:nvSpPr>
        <p:spPr>
          <a:xfrm>
            <a:off x="228600" y="730047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lang="en" sz="2100"/>
              <a:t>Virtual CT scanner implemented in Python</a:t>
            </a:r>
            <a:br>
              <a:rPr lang="en" sz="2100"/>
            </a:br>
            <a:endParaRPr sz="21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lang="en" sz="2100"/>
              <a:t>Generates phantoms, simulates projections, reconstructs images</a:t>
            </a:r>
            <a:br>
              <a:rPr lang="en" sz="2100"/>
            </a:br>
            <a:endParaRPr sz="21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lang="en" sz="2100"/>
              <a:t>Includes circular, rectangular, and head phantoms</a:t>
            </a:r>
            <a:br>
              <a:rPr lang="en" sz="2100"/>
            </a:br>
            <a:endParaRPr sz="21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lang="en" sz="2100"/>
              <a:t>GUI allows interactive control of acquisition parameters</a:t>
            </a:r>
            <a:br>
              <a:rPr lang="en" sz="2100"/>
            </a:br>
            <a:endParaRPr sz="2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2100"/>
              <a:t>Image quality evaluated using multiple analysis tools</a:t>
            </a:r>
            <a:br>
              <a:rPr lang="en" sz="1200"/>
            </a:b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VISION</a:t>
            </a:r>
            <a:endParaRPr/>
          </a:p>
        </p:txBody>
      </p:sp>
      <p:sp>
        <p:nvSpPr>
          <p:cNvPr id="471" name="Google Shape;471;p51"/>
          <p:cNvSpPr txBox="1"/>
          <p:nvPr>
            <p:ph idx="4294967295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72" name="Google Shape;472;p51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2 - Phantom Generation</a:t>
            </a:r>
            <a:endParaRPr/>
          </a:p>
        </p:txBody>
      </p:sp>
      <p:sp>
        <p:nvSpPr>
          <p:cNvPr id="473" name="Google Shape;473;p51"/>
          <p:cNvSpPr txBox="1"/>
          <p:nvPr>
            <p:ph idx="1" type="subTitle"/>
          </p:nvPr>
        </p:nvSpPr>
        <p:spPr>
          <a:xfrm>
            <a:off x="228600" y="921900"/>
            <a:ext cx="7311000" cy="3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/>
              <a:t>Three phantoms created: circular, rectangular, head (Shepp–Logan)</a:t>
            </a:r>
            <a:br>
              <a:rPr lang="en" sz="2100"/>
            </a:b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/>
              <a:t>Adjustable matrix size, structure positions, and mu-values</a:t>
            </a:r>
            <a:br>
              <a:rPr lang="en" sz="2100"/>
            </a:b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/>
              <a:t>Circular → tests smooth structures and symmetry</a:t>
            </a:r>
            <a:br>
              <a:rPr lang="en" sz="2100"/>
            </a:b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/>
              <a:t>Rectangular → tests edge behavior and artifact sensitivity</a:t>
            </a:r>
            <a:br>
              <a:rPr lang="en" sz="2100"/>
            </a:b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/>
              <a:t>Head phantom → tests realistic anatomical reconstruction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NAE</a:t>
            </a:r>
            <a:endParaRPr/>
          </a:p>
        </p:txBody>
      </p:sp>
      <p:sp>
        <p:nvSpPr>
          <p:cNvPr id="479" name="Google Shape;479;p52"/>
          <p:cNvSpPr txBox="1"/>
          <p:nvPr>
            <p:ph idx="3" type="title"/>
          </p:nvPr>
        </p:nvSpPr>
        <p:spPr>
          <a:xfrm>
            <a:off x="228600" y="457200"/>
            <a:ext cx="54615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3 - CT Scanner Simulation</a:t>
            </a:r>
            <a:endParaRPr/>
          </a:p>
        </p:txBody>
      </p:sp>
      <p:sp>
        <p:nvSpPr>
          <p:cNvPr id="480" name="Google Shape;480;p52"/>
          <p:cNvSpPr txBox="1"/>
          <p:nvPr>
            <p:ph idx="1" type="subTitle"/>
          </p:nvPr>
        </p:nvSpPr>
        <p:spPr>
          <a:xfrm>
            <a:off x="111800" y="921900"/>
            <a:ext cx="7185600" cy="3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/>
              <a:t>Radon transform used to simulate projection acquisition</a:t>
            </a:r>
            <a:br>
              <a:rPr lang="en" sz="2100"/>
            </a:b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/>
              <a:t>Adjustable parameters: projections, detectors, spacing, rotation step, noise</a:t>
            </a:r>
            <a:br>
              <a:rPr lang="en" sz="2100"/>
            </a:b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/>
              <a:t>Sinograms generated for each phantom</a:t>
            </a:r>
            <a:br>
              <a:rPr lang="en" sz="2100"/>
            </a:b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/>
              <a:t>Noise represents shorter acquisition time</a:t>
            </a:r>
            <a:br>
              <a:rPr lang="en" sz="2100"/>
            </a:b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/>
              <a:t>Output used as input for reconstruction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3"/>
          <p:cNvSpPr txBox="1"/>
          <p:nvPr>
            <p:ph idx="4" type="title"/>
          </p:nvPr>
        </p:nvSpPr>
        <p:spPr>
          <a:xfrm>
            <a:off x="154075" y="176100"/>
            <a:ext cx="61572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4 - Image Reconstruction &amp; Analysis</a:t>
            </a:r>
            <a:endParaRPr/>
          </a:p>
        </p:txBody>
      </p:sp>
      <p:sp>
        <p:nvSpPr>
          <p:cNvPr id="486" name="Google Shape;486;p53"/>
          <p:cNvSpPr txBox="1"/>
          <p:nvPr>
            <p:ph idx="1" type="subTitle"/>
          </p:nvPr>
        </p:nvSpPr>
        <p:spPr>
          <a:xfrm>
            <a:off x="154075" y="742750"/>
            <a:ext cx="8260800" cy="447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/>
              <a:t>Filtered Backprojection (FBP) with Ram-Lak filter</a:t>
            </a:r>
            <a:br>
              <a:rPr lang="en" sz="1800"/>
            </a:b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/>
              <a:t>Produces reconstructed images comparable to original phantom</a:t>
            </a:r>
            <a:br>
              <a:rPr lang="en" sz="1800"/>
            </a:b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/>
              <a:t>Analysis includes:</a:t>
            </a:r>
            <a:br>
              <a:rPr lang="en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/>
              <a:t>Signal intensity and contrast</a:t>
            </a:r>
            <a:br>
              <a:rPr lang="en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/>
              <a:t>Signal intensity profiles</a:t>
            </a:r>
            <a:br>
              <a:rPr lang="en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/>
              <a:t>Difference images</a:t>
            </a:r>
            <a:br>
              <a:rPr lang="en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/>
              <a:t>MSE, RMSE, MAE, SSIM metrics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4"/>
          <p:cNvSpPr txBox="1"/>
          <p:nvPr>
            <p:ph idx="3" type="title"/>
          </p:nvPr>
        </p:nvSpPr>
        <p:spPr>
          <a:xfrm>
            <a:off x="228600" y="457200"/>
            <a:ext cx="55485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5 - Results &amp; Parameter Effects</a:t>
            </a:r>
            <a:endParaRPr/>
          </a:p>
        </p:txBody>
      </p:sp>
      <p:sp>
        <p:nvSpPr>
          <p:cNvPr id="492" name="Google Shape;492;p54"/>
          <p:cNvSpPr txBox="1"/>
          <p:nvPr>
            <p:ph idx="1" type="subTitle"/>
          </p:nvPr>
        </p:nvSpPr>
        <p:spPr>
          <a:xfrm>
            <a:off x="230075" y="882000"/>
            <a:ext cx="7659000" cy="27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More projections → fewer streaks, sharper structures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More detectors → better spatial resolution, cleaner edges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Longer acquisition time → less noise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Circular phantom shows stable reconstructions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Rectangular and head phantoms reveal sensitivity to sampling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5"/>
          <p:cNvSpPr txBox="1"/>
          <p:nvPr>
            <p:ph type="title"/>
          </p:nvPr>
        </p:nvSpPr>
        <p:spPr>
          <a:xfrm>
            <a:off x="-2118050" y="-2271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</a:t>
            </a:r>
            <a:endParaRPr/>
          </a:p>
        </p:txBody>
      </p:sp>
      <p:sp>
        <p:nvSpPr>
          <p:cNvPr id="498" name="Google Shape;498;p55"/>
          <p:cNvSpPr txBox="1"/>
          <p:nvPr>
            <p:ph idx="3" type="title"/>
          </p:nvPr>
        </p:nvSpPr>
        <p:spPr>
          <a:xfrm>
            <a:off x="228600" y="457200"/>
            <a:ext cx="47637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6 - GUI &amp; Conclusion</a:t>
            </a:r>
            <a:endParaRPr/>
          </a:p>
        </p:txBody>
      </p:sp>
      <p:sp>
        <p:nvSpPr>
          <p:cNvPr id="499" name="Google Shape;499;p55"/>
          <p:cNvSpPr txBox="1"/>
          <p:nvPr>
            <p:ph idx="20" type="subTitle"/>
          </p:nvPr>
        </p:nvSpPr>
        <p:spPr>
          <a:xfrm>
            <a:off x="228600" y="1031175"/>
            <a:ext cx="8592300" cy="352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GUI integrates phantom creation, scanning, and analysis displays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User-friendly interface for adjusting CT parameters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Demonstrates fundamentals of CT physics and reconstruction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Project validates scanner performance across multiple phantoms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Acquisition settings shown to directly impact image quality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